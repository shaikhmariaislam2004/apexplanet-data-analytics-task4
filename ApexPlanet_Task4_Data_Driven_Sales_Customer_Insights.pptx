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4"/>
            <c:invertIfNegative val="1"/>
            <c:bubble3D val="0"/>
            <c:spPr>
              <a:gradFill rotWithShape="1">
                <a:gsLst>
                  <a:gs pos="0">
                    <a:schemeClr val="accent5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5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5"/>
            <c:invertIfNegative val="1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6"/>
            <c:invertIfNegative val="1"/>
            <c:bubble3D val="0"/>
            <c:spPr>
              <a:gradFill rotWithShape="1">
                <a:gsLst>
                  <a:gs pos="0">
                    <a:schemeClr val="accent1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7"/>
            <c:invertIfNegative val="1"/>
            <c:bubble3D val="0"/>
            <c:spPr>
              <a:gradFill rotWithShape="1">
                <a:gsLst>
                  <a:gs pos="0">
                    <a:schemeClr val="accent2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8"/>
            <c:invertIfNegative val="1"/>
            <c:bubble3D val="0"/>
            <c:spPr>
              <a:gradFill rotWithShape="1">
                <a:gsLst>
                  <a:gs pos="0">
                    <a:schemeClr val="accent3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9"/>
            <c:invertIfNegative val="1"/>
            <c:bubble3D val="0"/>
            <c:spPr>
              <a:gradFill rotWithShape="1">
                <a:gsLst>
                  <a:gs pos="0">
                    <a:schemeClr val="accent4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0"/>
            <c:invertIfNegative val="1"/>
            <c:bubble3D val="0"/>
            <c:spPr>
              <a:gradFill rotWithShape="1">
                <a:gsLst>
                  <a:gs pos="0">
                    <a:schemeClr val="accent5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5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1"/>
            <c:invertIfNegative val="1"/>
            <c:bubble3D val="0"/>
            <c:spPr>
              <a:gradFill rotWithShape="1">
                <a:gsLst>
                  <a:gs pos="0">
                    <a:schemeClr val="accent6">
                      <a:lumMod val="60000"/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lumMod val="60000"/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10.90558072</c:v>
                </c:pt>
                <c:pt idx="1">
                  <c:v>11.51118146</c:v>
                </c:pt>
                <c:pt idx="2">
                  <c:v>13.059899939999999</c:v>
                </c:pt>
                <c:pt idx="3">
                  <c:v>12.22270017</c:v>
                </c:pt>
                <c:pt idx="4">
                  <c:v>10.984689250000001</c:v>
                </c:pt>
                <c:pt idx="5">
                  <c:v>12.912332640000001</c:v>
                </c:pt>
                <c:pt idx="6">
                  <c:v>11.746226800000001</c:v>
                </c:pt>
                <c:pt idx="7">
                  <c:v>9.4484712200000001</c:v>
                </c:pt>
                <c:pt idx="8">
                  <c:v>9.1798962900000003</c:v>
                </c:pt>
                <c:pt idx="9">
                  <c:v>12.5009365</c:v>
                </c:pt>
                <c:pt idx="10">
                  <c:v>12.627620220000001</c:v>
                </c:pt>
                <c:pt idx="11">
                  <c:v>12.299904440000001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82-4277-B8FF-4562A06EE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4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1"/>
            <c:invertIfNegative val="1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2"/>
            <c:invertIfNegative val="1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Pt>
            <c:idx val="3"/>
            <c:invertIfNegative val="1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cat>
            <c:strRef>
              <c:f>Sheet1!$A$2:$A$5</c:f>
              <c:strCache>
                <c:ptCount val="4"/>
                <c:pt idx="0">
                  <c:v>Low Value</c:v>
                </c:pt>
                <c:pt idx="1">
                  <c:v>Medium Value</c:v>
                </c:pt>
                <c:pt idx="2">
                  <c:v>High Value</c:v>
                </c:pt>
                <c:pt idx="3">
                  <c:v>Top 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5.6278968899999997</c:v>
                </c:pt>
                <c:pt idx="1">
                  <c:v>19.319065689999999</c:v>
                </c:pt>
                <c:pt idx="2">
                  <c:v>37.403551780000001</c:v>
                </c:pt>
                <c:pt idx="3">
                  <c:v>77.04892529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46-4226-A202-D6B8B631F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6363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presentation: this deck turns the completed sales analytics work into a business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goal is not only to report numbers, but to move from data to findings, statistical evidence, and business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Briefly explain the Task 1 preparation: missing values were handled, sales were validated, and valid high-value transactions were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main KPIs and the strongest relationships found during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monthly pattern, highlighting March as the highest month and September as the lowest.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product and correlation findings. Emphasize that correlation is association, not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four customer-value segments and their contribution to revenue.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Focus on the 55.27% Top Value revenue contribution and the large number of one-time customers.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State the hypotheses, Pearson correlation method, sample size, and significance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r, p-value, confidence interval, and the decision to reject H0 at α=0.05. Avoid claiming causation.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the four action areas: retention, repeat purchases, seasonal planning, and product targeting.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the overall story: understand the data, identify high-value customers, use statistical evidence, and turn insights into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4282135" cy="6858000"/>
          </a:xfrm>
          <a:prstGeom prst="rect">
            <a:avLst/>
          </a:prstGeom>
          <a:solidFill>
            <a:srgbClr val="14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58200" y="4343400"/>
            <a:ext cx="411480" cy="1005840"/>
          </a:xfrm>
          <a:prstGeom prst="rect">
            <a:avLst/>
          </a:prstGeom>
          <a:solidFill>
            <a:srgbClr val="6C9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71432" y="3703320"/>
            <a:ext cx="411480" cy="1645920"/>
          </a:xfrm>
          <a:prstGeom prst="rect">
            <a:avLst/>
          </a:prstGeom>
          <a:solidFill>
            <a:srgbClr val="6C9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84664" y="3108959"/>
            <a:ext cx="411480" cy="2240280"/>
          </a:xfrm>
          <a:prstGeom prst="rect">
            <a:avLst/>
          </a:prstGeom>
          <a:solidFill>
            <a:srgbClr val="6C9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97896" y="2514599"/>
            <a:ext cx="411480" cy="2834640"/>
          </a:xfrm>
          <a:prstGeom prst="rect">
            <a:avLst/>
          </a:prstGeom>
          <a:solidFill>
            <a:srgbClr val="6C9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1417320"/>
            <a:ext cx="66751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42B4D"/>
                </a:solidFill>
                <a:latin typeface="Aptos Display"/>
              </a:defRPr>
            </a:pPr>
            <a:r>
              <a:t>DATA-DRIVEN SALES</a:t>
            </a:r>
            <a:br/>
            <a:r>
              <a:t>&amp; CUSTOMER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246120"/>
            <a:ext cx="6309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60A0"/>
                </a:solidFill>
                <a:latin typeface="Aptos"/>
              </a:defRPr>
            </a:pPr>
            <a:r>
              <a:t>A Business Story from Sales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60520"/>
            <a:ext cx="6217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A"/>
                </a:solidFill>
                <a:latin typeface="Aptos"/>
              </a:defRPr>
            </a:pPr>
            <a:r>
              <a:t>ApexPlanet Data Analytics Internship — Task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257800"/>
            <a:ext cx="425629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A34"/>
                </a:solidFill>
                <a:latin typeface="Aptos"/>
              </a:defRPr>
            </a:pPr>
            <a:r>
              <a:rPr sz="2000" dirty="0">
                <a:latin typeface="Arial" panose="020B0604020202020204" pitchFamily="34" charset="0"/>
                <a:cs typeface="Arial" panose="020B0604020202020204" pitchFamily="34" charset="0"/>
              </a:rPr>
              <a:t>Presented by: Shaikh Maria Islam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227871" y="429768"/>
            <a:ext cx="105642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rPr sz="3600" dirty="0"/>
              <a:t>Business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471" y="1417320"/>
            <a:ext cx="7049729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dirty="0"/>
              <a:t> Turn cleaned sales data into a clear business story.</a:t>
            </a:r>
            <a:endParaRPr lang="en-IN" dirty="0"/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 </a:t>
            </a:r>
            <a:r>
              <a:rPr dirty="0"/>
              <a:t>Identify sales trends, product patterns, and customer-value </a:t>
            </a:r>
            <a:r>
              <a:rPr lang="en-IN" dirty="0"/>
              <a:t>     </a:t>
            </a:r>
            <a:r>
              <a:rPr dirty="0"/>
              <a:t>differences.</a:t>
            </a:r>
            <a:endParaRPr lang="en-IN" dirty="0"/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rPr dirty="0"/>
              <a:t>•</a:t>
            </a:r>
            <a:r>
              <a:rPr lang="en-IN" dirty="0"/>
              <a:t> </a:t>
            </a:r>
            <a:r>
              <a:rPr dirty="0"/>
              <a:t> Use statistical evidence to test a meaningful relationship in the data.</a:t>
            </a:r>
            <a:endParaRPr lang="en-IN" dirty="0"/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rPr dirty="0"/>
              <a:t>• </a:t>
            </a:r>
            <a:r>
              <a:rPr lang="en-IN" dirty="0"/>
              <a:t> </a:t>
            </a:r>
            <a:r>
              <a:rPr dirty="0"/>
              <a:t>Translate findings into practical business actions.</a:t>
            </a:r>
          </a:p>
        </p:txBody>
      </p:sp>
      <p:sp>
        <p:nvSpPr>
          <p:cNvPr id="6" name="Oval 5"/>
          <p:cNvSpPr/>
          <p:nvPr/>
        </p:nvSpPr>
        <p:spPr>
          <a:xfrm>
            <a:off x="7909560" y="1325880"/>
            <a:ext cx="566928" cy="566928"/>
          </a:xfrm>
          <a:prstGeom prst="ellipse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996496" y="1435607"/>
            <a:ext cx="393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 dirty="0"/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3424" y="1417320"/>
            <a:ext cx="141631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B4D"/>
                </a:solidFill>
              </a:defRPr>
            </a:pPr>
            <a:r>
              <a:rPr dirty="0"/>
              <a:t>Understand</a:t>
            </a:r>
          </a:p>
        </p:txBody>
      </p:sp>
      <p:sp>
        <p:nvSpPr>
          <p:cNvPr id="9" name="Oval 8"/>
          <p:cNvSpPr/>
          <p:nvPr/>
        </p:nvSpPr>
        <p:spPr>
          <a:xfrm>
            <a:off x="7909560" y="2468880"/>
            <a:ext cx="566928" cy="566928"/>
          </a:xfrm>
          <a:prstGeom prst="ellipse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96496" y="2578608"/>
            <a:ext cx="393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 dirty="0"/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3424" y="2560320"/>
            <a:ext cx="25603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B4D"/>
                </a:solidFill>
              </a:defRPr>
            </a:pPr>
            <a:r>
              <a:rPr dirty="0"/>
              <a:t>Analyze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3611880"/>
            <a:ext cx="566928" cy="566928"/>
          </a:xfrm>
          <a:prstGeom prst="ellipse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96496" y="3721608"/>
            <a:ext cx="393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 dirty="0"/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3424" y="3685032"/>
            <a:ext cx="268369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B4D"/>
                </a:solidFill>
              </a:defRPr>
            </a:pPr>
            <a:r>
              <a:rPr dirty="0"/>
              <a:t>Test</a:t>
            </a:r>
          </a:p>
        </p:txBody>
      </p:sp>
      <p:sp>
        <p:nvSpPr>
          <p:cNvPr id="15" name="Oval 14"/>
          <p:cNvSpPr/>
          <p:nvPr/>
        </p:nvSpPr>
        <p:spPr>
          <a:xfrm>
            <a:off x="7909560" y="4754880"/>
            <a:ext cx="566928" cy="566928"/>
          </a:xfrm>
          <a:prstGeom prst="ellipse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96496" y="4864608"/>
            <a:ext cx="3930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600" dirty="0"/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3424" y="4828032"/>
            <a:ext cx="2683696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B4D"/>
                </a:solidFill>
              </a:defRPr>
            </a:pPr>
            <a:r>
              <a:rPr dirty="0"/>
              <a:t>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Foundation built in Task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2402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90472"/>
            <a:ext cx="19110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1,000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325880"/>
            <a:ext cx="22402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19272" y="1490472"/>
            <a:ext cx="19110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6C97C9"/>
                </a:solidFill>
                <a:latin typeface="Aptos Display"/>
              </a:defRPr>
            </a:pPr>
            <a:r>
              <a:t>19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analysis columns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1325880"/>
            <a:ext cx="22402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88152" y="1490472"/>
            <a:ext cx="19110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67852"/>
                </a:solidFill>
                <a:latin typeface="Aptos Display"/>
              </a:defRPr>
            </a:pPr>
            <a:r>
              <a:t>0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22402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57031" y="1490472"/>
            <a:ext cx="19110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0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290" y="3345426"/>
            <a:ext cx="10241280" cy="1878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§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Age missing values were filled with the median age of 41.</a:t>
            </a:r>
            <a:endParaRPr lang="en-IN"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City missing values were filled with the mode: Patna.</a:t>
            </a:r>
            <a:endParaRPr lang="en-IN"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Total Sales was validated against Quantity × Unit Price.</a:t>
            </a:r>
            <a:endParaRPr lang="en-IN"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§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19 high-value transactions were flagged by IQR but retained because they were valid sales.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Key EDA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What the data tells 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24688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21396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₹139.40M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234440"/>
            <a:ext cx="24688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93592" y="1399032"/>
            <a:ext cx="21396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6C97C9"/>
                </a:solidFill>
                <a:latin typeface="Aptos Display"/>
              </a:defRPr>
            </a:pPr>
            <a:r>
              <a:t>₹139,399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average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24688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399032"/>
            <a:ext cx="21396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5,435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234440"/>
            <a:ext cx="2468880" cy="114300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79992" y="1399032"/>
            <a:ext cx="2139696" cy="8138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67852"/>
                </a:solidFill>
                <a:latin typeface="Aptos Display"/>
              </a:defRPr>
            </a:pPr>
            <a:r>
              <a:t>947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0" y="2860948"/>
            <a:ext cx="10424160" cy="2268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4"/>
                </a:solidFill>
                <a:latin typeface="Aptos"/>
              </a:defRPr>
            </a:pPr>
            <a:endParaRPr lang="en-IN" dirty="0"/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ü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Quantity and Total Sales show a strong positive linear association (r ≈ 0.65).</a:t>
            </a:r>
            <a:endParaRPr lang="en-IN"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Unit Price and Total Sales also show a positive relationship (r ≈ 0.69).</a:t>
            </a:r>
            <a:endParaRPr lang="en-IN"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Age has almost no linear relationship with Total Sales (r ≈ 0.00)</a:t>
            </a:r>
            <a:r>
              <a:rPr lang="en-IN" dirty="0"/>
              <a:t>.</a:t>
            </a:r>
            <a:endParaRPr lang="en-US"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ü"/>
              <a:defRPr sz="1700">
                <a:solidFill>
                  <a:srgbClr val="232A34"/>
                </a:solidFill>
                <a:latin typeface="Aptos"/>
              </a:defRPr>
            </a:pPr>
            <a:r>
              <a:rPr lang="en-US" dirty="0"/>
              <a:t> Laptop generated approximately ₹25.44M in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Sales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Monthly revenue across the year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539734"/>
              </p:ext>
            </p:extLst>
          </p:nvPr>
        </p:nvGraphicFramePr>
        <p:xfrm>
          <a:off x="685800" y="1325880"/>
          <a:ext cx="70408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08351" y="2407982"/>
            <a:ext cx="3301672" cy="2508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>
                <a:solidFill>
                  <a:srgbClr val="232A34"/>
                </a:solidFill>
                <a:latin typeface="Aptos"/>
              </a:defRPr>
            </a:pPr>
            <a:r>
              <a:rPr sz="2000" dirty="0"/>
              <a:t> </a:t>
            </a:r>
            <a:r>
              <a:rPr dirty="0"/>
              <a:t>Highest month: March — ₹13.06M.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>
                <a:solidFill>
                  <a:srgbClr val="232A34"/>
                </a:solidFill>
                <a:latin typeface="Aptos"/>
              </a:defRPr>
            </a:pPr>
            <a:r>
              <a:rPr dirty="0"/>
              <a:t> Lowest month: September — ₹9.18M.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>
                <a:solidFill>
                  <a:srgbClr val="232A34"/>
                </a:solidFill>
                <a:latin typeface="Aptos"/>
              </a:defRPr>
            </a:pPr>
            <a:r>
              <a:rPr dirty="0"/>
              <a:t> August and September were the weakest consecutive months.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600">
                <a:solidFill>
                  <a:srgbClr val="232A34"/>
                </a:solidFill>
                <a:latin typeface="Aptos"/>
              </a:defRPr>
            </a:pPr>
            <a:r>
              <a:rPr dirty="0"/>
              <a:t> Revenue recovered strongly in October–December.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Product &amp; Sales Insights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926080" cy="123444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90472"/>
            <a:ext cx="2596896" cy="9052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₹25.44M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Laptop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1325880"/>
            <a:ext cx="2926080" cy="123444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096511" y="1490472"/>
            <a:ext cx="2596896" cy="9052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6C97C9"/>
                </a:solidFill>
                <a:latin typeface="Aptos Display"/>
              </a:defRPr>
            </a:pPr>
            <a:r>
              <a:t>0.65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Quantity ↔ Total Sales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25880"/>
            <a:ext cx="2926080" cy="123444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96912" y="1490472"/>
            <a:ext cx="2596896" cy="9052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67852"/>
                </a:solidFill>
                <a:latin typeface="Aptos Display"/>
              </a:defRPr>
            </a:pPr>
            <a:r>
              <a:t>0.69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Unit Price ↔ Total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410712"/>
            <a:ext cx="1024128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/>
              <a:t> Laptop is a major revenue-generating product in the dataset.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/>
              <a:t> Higher quantities tend to be associated with higher transaction sales.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/>
              <a:t>Higher unit prices also tend to be associated with higher transaction sales.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q"/>
              <a:defRPr sz="1800">
                <a:solidFill>
                  <a:srgbClr val="232A34"/>
                </a:solidFill>
                <a:latin typeface="Aptos"/>
              </a:defRPr>
            </a:pPr>
            <a:r>
              <a:rPr dirty="0"/>
              <a:t> These relationships are descriptive associations, not proof of causation.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Customer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Task 3: segment customers by total spend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764158"/>
              </p:ext>
            </p:extLst>
          </p:nvPr>
        </p:nvGraphicFramePr>
        <p:xfrm>
          <a:off x="640080" y="123444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596896"/>
            <a:ext cx="3931920" cy="21750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A34"/>
                </a:solidFill>
                <a:latin typeface="Aptos"/>
              </a:defRPr>
            </a:pPr>
            <a:r>
              <a:rPr dirty="0"/>
              <a:t> Low Value: 237 customers — 4.04% of</a:t>
            </a:r>
            <a:r>
              <a:rPr lang="en-IN" dirty="0"/>
              <a:t> </a:t>
            </a:r>
            <a:r>
              <a:rPr dirty="0"/>
              <a:t>customer revenue</a:t>
            </a:r>
            <a:r>
              <a:rPr lang="en-IN" dirty="0"/>
              <a:t>.</a:t>
            </a:r>
            <a:endParaRPr dirty="0"/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A34"/>
                </a:solidFill>
                <a:latin typeface="Aptos"/>
              </a:defRPr>
            </a:pPr>
            <a:r>
              <a:rPr dirty="0"/>
              <a:t>Medium Value: 237 customers — 13.86%.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A34"/>
                </a:solidFill>
                <a:latin typeface="Aptos"/>
              </a:defRPr>
            </a:pPr>
            <a:r>
              <a:rPr dirty="0"/>
              <a:t> High Value: 236 customers — 26.83%.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Ø"/>
              <a:defRPr sz="1500">
                <a:solidFill>
                  <a:srgbClr val="232A34"/>
                </a:solidFill>
                <a:latin typeface="Aptos"/>
              </a:defRPr>
            </a:pPr>
            <a:r>
              <a:rPr dirty="0"/>
              <a:t>Top Value: 237 customers — 55.27%.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Key Customer Insight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108960" cy="15544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581912"/>
            <a:ext cx="2779776" cy="12252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rPr dirty="0"/>
              <a:t>55.27%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rPr dirty="0"/>
              <a:t>revenue from Top Value customers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108960" cy="15544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79776" cy="12252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6C97C9"/>
                </a:solidFill>
                <a:latin typeface="Aptos Display"/>
              </a:defRPr>
            </a:pPr>
            <a:r>
              <a:rPr dirty="0"/>
              <a:t>₹325,101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rPr dirty="0"/>
              <a:t>average spend — Top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1417320"/>
            <a:ext cx="3108960" cy="15544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74152" y="1581912"/>
            <a:ext cx="2779776" cy="12252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67852"/>
                </a:solidFill>
                <a:latin typeface="Aptos Display"/>
              </a:defRPr>
            </a:pPr>
            <a:r>
              <a:t>895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customers with 1 purchase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241280" cy="2401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The Top Value segment contributes more than half of customer revenue.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Most customers in the dataset made only one purchase.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This creates two distinct business opportunities: retain high-value customers and encourage repeat purchases.</a:t>
            </a:r>
          </a:p>
          <a:p>
            <a:pPr marL="285750" indent="-285750">
              <a:lnSpc>
                <a:spcPct val="150000"/>
              </a:lnSpc>
              <a:spcAft>
                <a:spcPts val="1000"/>
              </a:spcAft>
              <a:buFont typeface="Courier New" panose="02070309020205020404" pitchFamily="49" charset="0"/>
              <a:buChar char="o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Segmentation can support targeted communication instead of one-size-fits-all campaigns.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Hypothesis &amp; Statistical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Task 4: test the Quantity–Total Sales relationship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074920" cy="196596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57276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D"/>
                </a:solidFill>
              </a:defRPr>
            </a:pPr>
            <a:r>
              <a:t>H₀ — Null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41659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rPr dirty="0"/>
              <a:t>There is no statistically significant linear relationship between Quantity and Total Sales.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074920" cy="196596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572768"/>
            <a:ext cx="4617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B4D"/>
                </a:solidFill>
              </a:defRPr>
            </a:pPr>
            <a:r>
              <a:t>H₁ — Alternative Hypothesis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57400"/>
            <a:ext cx="42519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A34"/>
                </a:solidFill>
              </a:defRPr>
            </a:pPr>
            <a:r>
              <a:rPr dirty="0"/>
              <a:t>There is a statistically significant linear relationship between Quantity and Total Sales.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86200"/>
            <a:ext cx="9875520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Test used: Pearson correlation.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Sample size: n = 1,000 transactions.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 Significance level: α = 0.05.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Ø"/>
              <a:defRPr sz="1700">
                <a:solidFill>
                  <a:srgbClr val="232A34"/>
                </a:solidFill>
                <a:latin typeface="Aptos"/>
              </a:defRPr>
            </a:pPr>
            <a:r>
              <a:rPr dirty="0"/>
              <a:t>The analysis was performed in Python using SciPy.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t>Statistical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t>Evidence from the hypothesis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65176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90472"/>
            <a:ext cx="2322576" cy="9966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0.6466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Pearson correlation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25880"/>
            <a:ext cx="265176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22191" y="1490472"/>
            <a:ext cx="2322576" cy="9966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67852"/>
                </a:solidFill>
                <a:latin typeface="Aptos Display"/>
              </a:defRPr>
            </a:pPr>
            <a:r>
              <a:t>1.71 × 10⁻¹¹⁹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p-value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25880"/>
            <a:ext cx="265176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2" y="1490472"/>
            <a:ext cx="2322576" cy="9966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6C97C9"/>
                </a:solidFill>
                <a:latin typeface="Aptos Display"/>
              </a:defRPr>
            </a:pPr>
            <a:r>
              <a:t>0.609–0.681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95% CI for 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25880"/>
            <a:ext cx="1828800" cy="1325880"/>
          </a:xfrm>
          <a:prstGeom prst="roundRect">
            <a:avLst/>
          </a:prstGeom>
          <a:solidFill>
            <a:srgbClr val="E8F1FA"/>
          </a:solidFill>
          <a:ln>
            <a:solidFill>
              <a:srgbClr val="D2E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4352" y="1490472"/>
            <a:ext cx="1499616" cy="99669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D60A0"/>
                </a:solidFill>
                <a:latin typeface="Aptos Display"/>
              </a:defRPr>
            </a:pPr>
            <a:r>
              <a:t>1,000</a:t>
            </a:r>
          </a:p>
          <a:p>
            <a:pPr algn="ctr">
              <a:defRPr sz="1100">
                <a:solidFill>
                  <a:srgbClr val="646E7A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63240"/>
            <a:ext cx="10332720" cy="1920240"/>
          </a:xfrm>
          <a:prstGeom prst="roundRect">
            <a:avLst/>
          </a:prstGeom>
          <a:solidFill>
            <a:srgbClr val="E8F1FA"/>
          </a:solidFill>
          <a:ln>
            <a:solidFill>
              <a:srgbClr val="CDDC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34440" y="3383280"/>
            <a:ext cx="96926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2B4D"/>
                </a:solidFill>
              </a:defRPr>
            </a:pPr>
            <a:r>
              <a:t>Decision at α = 0.05: Reject H₀</a:t>
            </a:r>
          </a:p>
          <a:p>
            <a:pPr>
              <a:defRPr sz="1700">
                <a:solidFill>
                  <a:srgbClr val="232A34"/>
                </a:solidFill>
              </a:defRPr>
            </a:pPr>
            <a:r>
              <a:t>There is strong statistical evidence of a positive linear association between Quantity and Total Sales.</a:t>
            </a:r>
          </a:p>
          <a:p>
            <a:pPr>
              <a:defRPr sz="1400" i="1">
                <a:solidFill>
                  <a:srgbClr val="646E7A"/>
                </a:solidFill>
              </a:defRPr>
            </a:pPr>
            <a:r>
              <a:t>Important: correlation shows association, not causation.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    </a:t>
            </a:r>
            <a:r>
              <a:rPr lang="en-IN" b="1" u="sng" dirty="0">
                <a:solidFill>
                  <a:schemeClr val="tx2"/>
                </a:solidFill>
              </a:rPr>
              <a:t>1. Retain high-value customers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 Focus retention efforts on Top Value customers, who contribute </a:t>
            </a:r>
            <a:r>
              <a:rPr lang="en-IN" b="1" dirty="0">
                <a:solidFill>
                  <a:schemeClr val="tx1"/>
                </a:solidFill>
              </a:rPr>
              <a:t>55.27% of customer revenue</a:t>
            </a:r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    </a:t>
            </a:r>
            <a:r>
              <a:rPr lang="en-IN" b="1" u="sng" dirty="0">
                <a:solidFill>
                  <a:schemeClr val="tx2"/>
                </a:solidFill>
              </a:rPr>
              <a:t>2. Increase repeat purchases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 Most customers made only one purchase, so use follow-up offers and reminders to encourage repeat buying.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    </a:t>
            </a:r>
            <a:r>
              <a:rPr lang="en-IN" b="1" u="sng" dirty="0">
                <a:solidFill>
                  <a:schemeClr val="tx2"/>
                </a:solidFill>
              </a:rPr>
              <a:t>3. Prepare for weaker sales periods</a:t>
            </a:r>
            <a:br>
              <a:rPr lang="en-IN" dirty="0">
                <a:solidFill>
                  <a:schemeClr val="tx1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 Revenue was lowest in </a:t>
            </a:r>
            <a:r>
              <a:rPr lang="en-IN" b="1" dirty="0">
                <a:solidFill>
                  <a:schemeClr val="tx1"/>
                </a:solidFill>
              </a:rPr>
              <a:t>September (₹9.18M)</a:t>
            </a:r>
            <a:r>
              <a:rPr lang="en-IN" dirty="0">
                <a:solidFill>
                  <a:schemeClr val="tx1"/>
                </a:solidFill>
              </a:rPr>
              <a:t>, so investigate the August–September decline and plan campaigns ahead of                      weaker periods.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1"/>
                </a:solidFill>
              </a:rPr>
              <a:t>    </a:t>
            </a:r>
            <a:r>
              <a:rPr lang="en-IN" b="1" u="sng" dirty="0">
                <a:solidFill>
                  <a:schemeClr val="tx2"/>
                </a:solidFill>
              </a:rPr>
              <a:t>4. Focus on high-revenue products</a:t>
            </a:r>
            <a:br>
              <a:rPr lang="en-IN" u="sng" dirty="0">
                <a:solidFill>
                  <a:schemeClr val="tx2"/>
                </a:solidFill>
              </a:rPr>
            </a:br>
            <a:r>
              <a:rPr lang="en-IN" dirty="0">
                <a:solidFill>
                  <a:schemeClr val="tx1"/>
                </a:solidFill>
              </a:rPr>
              <a:t>    Laptop generated approximately </a:t>
            </a:r>
            <a:r>
              <a:rPr lang="en-IN" b="1" dirty="0">
                <a:solidFill>
                  <a:schemeClr val="tx1"/>
                </a:solidFill>
              </a:rPr>
              <a:t>₹25.44M</a:t>
            </a:r>
            <a:r>
              <a:rPr lang="en-IN" dirty="0">
                <a:solidFill>
                  <a:schemeClr val="tx1"/>
                </a:solidFill>
              </a:rPr>
              <a:t> in revenue, making product-level targeting useful for future campaigns.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3797" y="24688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42B4D"/>
                </a:solidFill>
                <a:latin typeface="Aptos Display"/>
              </a:defRPr>
            </a:pPr>
            <a:r>
              <a:rPr dirty="0"/>
              <a:t>Business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237" y="72237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646E7A"/>
                </a:solidFill>
                <a:latin typeface="Aptos"/>
              </a:defRPr>
            </a:pPr>
            <a:r>
              <a:rPr dirty="0"/>
              <a:t>Turning evidence into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05456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463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329609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42B4D"/>
                </a:solidFill>
              </a:defRPr>
            </a:pPr>
            <a:r>
              <a:rPr sz="3600" u="sng" dirty="0"/>
              <a:t>Final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9966960" cy="292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v"/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 The sales dataset shows meaningful variation across time, products, and customer value.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 Top Value customers contribute 55.27% of customer revenue.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 The hypothesis test provides strong statistical evidence of a positive Quantity–Total Sales association.</a:t>
            </a:r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Font typeface="Wingdings" panose="05000000000000000000" pitchFamily="2" charset="2"/>
              <a:buChar char="v"/>
              <a:defRPr sz="1900">
                <a:solidFill>
                  <a:srgbClr val="232A34"/>
                </a:solidFill>
                <a:latin typeface="Aptos"/>
              </a:defRPr>
            </a:pPr>
            <a:r>
              <a:rPr dirty="0"/>
              <a:t> The next step is to convert these findings into targeted retention, repeat-purchase, and seasonal sales 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18084" y="5257800"/>
            <a:ext cx="295959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D60A0"/>
                </a:solidFill>
              </a:defRPr>
            </a:pPr>
            <a:r>
              <a:rPr sz="4800" dirty="0"/>
              <a:t>Thank You</a:t>
            </a:r>
            <a:r>
              <a:rPr lang="en-IN" sz="4800" dirty="0"/>
              <a:t> </a:t>
            </a:r>
            <a:endParaRPr sz="4800" dirty="0"/>
          </a:p>
        </p:txBody>
      </p:sp>
      <p:sp>
        <p:nvSpPr>
          <p:cNvPr id="7" name="TextBox 6"/>
          <p:cNvSpPr txBox="1"/>
          <p:nvPr/>
        </p:nvSpPr>
        <p:spPr>
          <a:xfrm>
            <a:off x="10927080" y="6473952"/>
            <a:ext cx="594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6E7A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1020</Words>
  <Application>Microsoft Office PowerPoint</Application>
  <PresentationFormat>Widescreen</PresentationFormat>
  <Paragraphs>147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SHAIKH MARIA ISLAM</cp:lastModifiedBy>
  <cp:revision>3</cp:revision>
  <dcterms:created xsi:type="dcterms:W3CDTF">2013-01-27T09:14:16Z</dcterms:created>
  <dcterms:modified xsi:type="dcterms:W3CDTF">2026-09-27T17:26:04Z</dcterms:modified>
  <cp:category/>
</cp:coreProperties>
</file>